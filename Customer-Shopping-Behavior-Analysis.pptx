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embeddedFontLst>
    <p:embeddedFont>
      <p:font typeface="Lora"/>
      <p:regular r:id="rId13"/>
    </p:embeddedFont>
    <p:embeddedFont>
      <p:font typeface="Lora"/>
      <p:regular r:id="rId14"/>
    </p:embeddedFont>
    <p:embeddedFont>
      <p:font typeface="Lora"/>
      <p:regular r:id="rId15"/>
    </p:embeddedFont>
    <p:embeddedFont>
      <p:font typeface="Lora"/>
      <p:regular r:id="rId16"/>
    </p:embeddedFont>
    <p:embeddedFont>
      <p:font typeface="Source Sans 3"/>
      <p:regular r:id="rId17"/>
    </p:embeddedFont>
    <p:embeddedFont>
      <p:font typeface="Source Sans 3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slideLayout" Target="../slideLayouts/slideLayout7.xml"/><Relationship Id="rId11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1660475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52577" y="2764854"/>
            <a:ext cx="4667845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Uncovering spending patterns, customer segments, product preferences, and subscription behavior from </a:t>
            </a:r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3,900 transactions</a:t>
            </a:r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across multiple product categories — to guide strategic business decisions.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4538" y="379437"/>
            <a:ext cx="3481536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5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Dataset &amp; Methodology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74538" y="1085255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Dataset at a Glance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4538" y="1407542"/>
            <a:ext cx="3932113" cy="413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features include demographics, purchase details, and shopping behavior metrics.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42111" y="1085255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Python Data Prep</a:t>
            </a:r>
            <a:endParaRPr lang="en-US" sz="12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92935" y="1427001"/>
            <a:ext cx="203374" cy="203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82716" y="1422871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Load &amp; Explore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182716" y="1745159"/>
            <a:ext cx="3491508" cy="216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Imported with 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; used 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92935" y="2211251"/>
            <a:ext cx="203374" cy="20337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2716" y="2207121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Clean &amp; Engineer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182716" y="2529408"/>
            <a:ext cx="3491508" cy="432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Imputed missing ratings; created 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92935" y="3211748"/>
            <a:ext cx="203374" cy="20337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82716" y="3207618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Load to PostgreSQL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5182716" y="3529905"/>
            <a:ext cx="3491508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Connected Python to PostgreSQL for SQL analysis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74538" y="4013002"/>
            <a:ext cx="2649736" cy="750987"/>
          </a:xfrm>
          <a:prstGeom prst="roundRect">
            <a:avLst>
              <a:gd name="adj" fmla="val 2708"/>
            </a:avLst>
          </a:prstGeom>
          <a:solidFill>
            <a:srgbClr val="F3E7D4"/>
          </a:solidFill>
          <a:ln/>
        </p:spPr>
      </p:sp>
      <p:sp>
        <p:nvSpPr>
          <p:cNvPr id="16" name="Text 11"/>
          <p:cNvSpPr/>
          <p:nvPr/>
        </p:nvSpPr>
        <p:spPr>
          <a:xfrm>
            <a:off x="610121" y="4148584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3,900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10121" y="4421684"/>
            <a:ext cx="2378571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Transactions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3247132" y="4013002"/>
            <a:ext cx="2649736" cy="750987"/>
          </a:xfrm>
          <a:prstGeom prst="roundRect">
            <a:avLst>
              <a:gd name="adj" fmla="val 2708"/>
            </a:avLst>
          </a:prstGeom>
          <a:solidFill>
            <a:srgbClr val="F3E7D4"/>
          </a:solidFill>
          <a:ln/>
        </p:spPr>
      </p:sp>
      <p:sp>
        <p:nvSpPr>
          <p:cNvPr id="19" name="Text 14"/>
          <p:cNvSpPr/>
          <p:nvPr/>
        </p:nvSpPr>
        <p:spPr>
          <a:xfrm>
            <a:off x="3382714" y="4148584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18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3382714" y="4421684"/>
            <a:ext cx="2378571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Feature Columns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019726" y="4013002"/>
            <a:ext cx="2649736" cy="750987"/>
          </a:xfrm>
          <a:prstGeom prst="roundRect">
            <a:avLst>
              <a:gd name="adj" fmla="val 2708"/>
            </a:avLst>
          </a:prstGeom>
          <a:solidFill>
            <a:srgbClr val="F3E7D4"/>
          </a:solidFill>
          <a:ln/>
        </p:spPr>
      </p:sp>
      <p:sp>
        <p:nvSpPr>
          <p:cNvPr id="22" name="Text 17"/>
          <p:cNvSpPr/>
          <p:nvPr/>
        </p:nvSpPr>
        <p:spPr>
          <a:xfrm>
            <a:off x="6155308" y="4148584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37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6155308" y="4421684"/>
            <a:ext cx="2378571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Missing Ratings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9982" y="385167"/>
            <a:ext cx="4815036" cy="756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SQL Analysis: Revenue &amp; Spending</a:t>
            </a:r>
            <a:endParaRPr lang="en-US" sz="2350" dirty="0"/>
          </a:p>
        </p:txBody>
      </p:sp>
      <p:sp>
        <p:nvSpPr>
          <p:cNvPr id="4" name="Shape 1"/>
          <p:cNvSpPr/>
          <p:nvPr/>
        </p:nvSpPr>
        <p:spPr>
          <a:xfrm>
            <a:off x="449982" y="1307083"/>
            <a:ext cx="4815036" cy="732160"/>
          </a:xfrm>
          <a:prstGeom prst="roundRect">
            <a:avLst>
              <a:gd name="adj" fmla="val 2634"/>
            </a:avLst>
          </a:prstGeom>
          <a:solidFill>
            <a:srgbClr val="FEF5E7"/>
          </a:solidFill>
          <a:ln w="14288">
            <a:solidFill>
              <a:srgbClr val="D9CD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92782" y="1449884"/>
            <a:ext cx="151261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Revenue by Gender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92782" y="1705198"/>
            <a:ext cx="4529435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Males generated </a:t>
            </a:r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$157,890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vs. females at </a:t>
            </a:r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$75,191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 total revenue.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49982" y="2149673"/>
            <a:ext cx="4815036" cy="732160"/>
          </a:xfrm>
          <a:prstGeom prst="roundRect">
            <a:avLst>
              <a:gd name="adj" fmla="val 2634"/>
            </a:avLst>
          </a:prstGeom>
          <a:solidFill>
            <a:srgbClr val="FEF5E7"/>
          </a:solidFill>
          <a:ln w="14288">
            <a:solidFill>
              <a:srgbClr val="D9CD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2782" y="2292474"/>
            <a:ext cx="1960438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High-Spend Discount Users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92782" y="2547789"/>
            <a:ext cx="4529435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839 customers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used discounts yet spent above the average purchase amount.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49982" y="2992264"/>
            <a:ext cx="4815036" cy="732160"/>
          </a:xfrm>
          <a:prstGeom prst="roundRect">
            <a:avLst>
              <a:gd name="adj" fmla="val 2634"/>
            </a:avLst>
          </a:prstGeom>
          <a:solidFill>
            <a:srgbClr val="FEF5E7"/>
          </a:solidFill>
          <a:ln w="14288">
            <a:solidFill>
              <a:srgbClr val="D9CDB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2782" y="3135064"/>
            <a:ext cx="151261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Shipping Type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92782" y="3390379"/>
            <a:ext cx="4529435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Express shoppers spent slightly more (</a:t>
            </a:r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$60.48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) vs. Standard (</a:t>
            </a:r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$58.46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) on average.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49982" y="3834854"/>
            <a:ext cx="4815036" cy="923404"/>
          </a:xfrm>
          <a:prstGeom prst="roundRect">
            <a:avLst>
              <a:gd name="adj" fmla="val 2089"/>
            </a:avLst>
          </a:prstGeom>
          <a:solidFill>
            <a:srgbClr val="FEF5E7"/>
          </a:solidFill>
          <a:ln w="14288">
            <a:solidFill>
              <a:srgbClr val="D9CDB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2782" y="3977655"/>
            <a:ext cx="228287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Subscribers vs. Non-Subscribers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92782" y="4232970"/>
            <a:ext cx="4529435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Non-subscribers (2,847) drive </a:t>
            </a:r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$170,436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 revenue; subscribers (1,053) average </a:t>
            </a:r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$59.49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spend.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0757" y="355402"/>
            <a:ext cx="4727302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Customer Segments &amp; Top Products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757" y="955402"/>
            <a:ext cx="3725763" cy="3725763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757" y="955402"/>
            <a:ext cx="3725763" cy="37257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22093" y="1645890"/>
            <a:ext cx="169656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Top Products by Category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4722093" y="1928068"/>
            <a:ext cx="3725763" cy="1502718"/>
          </a:xfrm>
          <a:prstGeom prst="roundRect">
            <a:avLst>
              <a:gd name="adj" fmla="val 119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846513" y="1994595"/>
            <a:ext cx="997669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Category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087368" y="1994595"/>
            <a:ext cx="995288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#1 Product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7325841" y="1994595"/>
            <a:ext cx="997669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Orders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846513" y="2294186"/>
            <a:ext cx="997669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Accessories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6087368" y="2294186"/>
            <a:ext cx="995288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Jewelry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325841" y="2294186"/>
            <a:ext cx="997669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171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846513" y="2593777"/>
            <a:ext cx="997669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Clothing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087368" y="2593777"/>
            <a:ext cx="995288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Blouse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7325841" y="2593777"/>
            <a:ext cx="997669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171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846513" y="2893368"/>
            <a:ext cx="997669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Footwear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087368" y="2893368"/>
            <a:ext cx="995288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Sandals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7325841" y="2893368"/>
            <a:ext cx="997669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160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846513" y="3192959"/>
            <a:ext cx="997669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Outerwear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6087368" y="3192959"/>
            <a:ext cx="995288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Jacket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7325841" y="3192959"/>
            <a:ext cx="997669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163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4722093" y="3537645"/>
            <a:ext cx="3725763" cy="441127"/>
          </a:xfrm>
          <a:prstGeom prst="roundRect">
            <a:avLst>
              <a:gd name="adj" fmla="val 4054"/>
            </a:avLst>
          </a:prstGeom>
          <a:solidFill>
            <a:srgbClr val="B6D6FC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304" y="3701355"/>
            <a:ext cx="148977" cy="119211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109493" y="3662363"/>
            <a:ext cx="3219152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Top-rated items: Gloves (3.86), Sandals (3.84), Boots (3.82)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9095" y="432792"/>
            <a:ext cx="3355256" cy="41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Power BI Dashboard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6116" y="1123950"/>
            <a:ext cx="5331693" cy="29883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9095" y="4265191"/>
            <a:ext cx="8145810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Dashboard includes filters by subscription status, gender, category, and shipping type — with charts for revenue and sales by category and age group.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9095" y="504155"/>
            <a:ext cx="4337819" cy="41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Business Recommendations</a:t>
            </a:r>
            <a:endParaRPr lang="en-US" sz="2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9095" y="1127373"/>
            <a:ext cx="285155" cy="28515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54137" y="1176338"/>
            <a:ext cx="1677591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Boost Subscriptions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954137" y="1467445"/>
            <a:ext cx="4261768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Promote exclusive benefits to convert the 73% non-subscriber base.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9095" y="1961927"/>
            <a:ext cx="285155" cy="28515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54137" y="2010891"/>
            <a:ext cx="1677591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Loyalty Programs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954137" y="2301999"/>
            <a:ext cx="4261768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Reward repeat buyers to accelerate movement into the Loyal segment.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9095" y="2796480"/>
            <a:ext cx="285155" cy="28515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54137" y="2845445"/>
            <a:ext cx="1808336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Review Discount Policy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954137" y="3136553"/>
            <a:ext cx="4261768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Balance sales boosts with margin control — especially for Hat, Sneakers, and Coat.</a:t>
            </a:r>
            <a:endParaRPr lang="en-US" sz="1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9095" y="3853755"/>
            <a:ext cx="285155" cy="28515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54137" y="3902720"/>
            <a:ext cx="1677591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Targeted Marketing</a:t>
            </a:r>
            <a:endParaRPr lang="en-US" sz="1300" dirty="0"/>
          </a:p>
        </p:txBody>
      </p:sp>
      <p:sp>
        <p:nvSpPr>
          <p:cNvPr id="15" name="Text 8"/>
          <p:cNvSpPr/>
          <p:nvPr/>
        </p:nvSpPr>
        <p:spPr>
          <a:xfrm>
            <a:off x="954137" y="4193828"/>
            <a:ext cx="4261768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Focus on high-revenue age groups (Young Adults) and express-shipping users.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2026-05-08T10:01:20Z</dcterms:created>
  <dcterms:modified xsi:type="dcterms:W3CDTF">2026-05-08T10:01:20Z</dcterms:modified>
</cp:coreProperties>
</file>